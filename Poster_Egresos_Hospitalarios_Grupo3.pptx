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607463" cy="43205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6719">
          <p15:clr>
            <a:srgbClr val="A4A3A4"/>
          </p15:clr>
        </p15:guide>
        <p15:guide id="2" orient="horz" pos="448">
          <p15:clr>
            <a:srgbClr val="A4A3A4"/>
          </p15:clr>
        </p15:guide>
        <p15:guide id="3" pos="454">
          <p15:clr>
            <a:srgbClr val="A4A3A4"/>
          </p15:clr>
        </p15:guide>
        <p15:guide id="4" pos="13152">
          <p15:clr>
            <a:srgbClr val="A4A3A4"/>
          </p15:clr>
        </p15:guide>
        <p15:guide id="5" pos="12675">
          <p15:clr>
            <a:srgbClr val="A4A3A4"/>
          </p15:clr>
        </p15:guide>
        <p15:guide id="6" pos="904">
          <p15:clr>
            <a:srgbClr val="A4A3A4"/>
          </p15:clr>
        </p15:guide>
        <p15:guide id="7" pos="7026">
          <p15:clr>
            <a:srgbClr val="A4A3A4"/>
          </p15:clr>
        </p15:guide>
        <p15:guide id="8" pos="6572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7" roundtripDataSignature="AMtx7mikYjNCgGV/2O2uv1anaAkZoHec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3"/>
  </p:normalViewPr>
  <p:slideViewPr>
    <p:cSldViewPr snapToGrid="0">
      <p:cViewPr>
        <p:scale>
          <a:sx n="38" d="100"/>
          <a:sy n="38" d="100"/>
        </p:scale>
        <p:origin x="1278" y="-3657"/>
      </p:cViewPr>
      <p:guideLst>
        <p:guide orient="horz" pos="26719"/>
        <p:guide orient="horz" pos="448"/>
        <p:guide pos="454"/>
        <p:guide pos="13152"/>
        <p:guide pos="12675"/>
        <p:guide pos="904"/>
        <p:guide pos="7026"/>
        <p:guide pos="65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0" y="685800"/>
            <a:ext cx="171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620560" y="13421680"/>
            <a:ext cx="18366344" cy="9261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241120" y="24483059"/>
            <a:ext cx="15125224" cy="11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lvl="0" algn="ctr">
              <a:spcBef>
                <a:spcPts val="2600"/>
              </a:spcBef>
              <a:spcAft>
                <a:spcPts val="0"/>
              </a:spcAft>
              <a:buClr>
                <a:srgbClr val="888888"/>
              </a:buClr>
              <a:buSzPts val="13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2260"/>
              </a:spcBef>
              <a:spcAft>
                <a:spcPts val="0"/>
              </a:spcAft>
              <a:buClr>
                <a:srgbClr val="888888"/>
              </a:buClr>
              <a:buSzPts val="11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940"/>
              </a:spcBef>
              <a:spcAft>
                <a:spcPts val="0"/>
              </a:spcAft>
              <a:buClr>
                <a:srgbClr val="888888"/>
              </a:buClr>
              <a:buSzPts val="97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080373" y="1730219"/>
            <a:ext cx="19446716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80373" y="10081263"/>
            <a:ext cx="19446716" cy="28513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706840" y="27763472"/>
            <a:ext cx="18366344" cy="858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0"/>
              <a:buFont typeface="Calibri"/>
              <a:buNone/>
              <a:defRPr sz="16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1706840" y="18312295"/>
            <a:ext cx="18366344" cy="9451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b" anchorCtr="0">
            <a:normAutofit/>
          </a:bodyPr>
          <a:lstStyle>
            <a:lvl1pPr marL="457200" lvl="0" indent="-228600" algn="l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 sz="81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460"/>
              </a:spcBef>
              <a:spcAft>
                <a:spcPts val="0"/>
              </a:spcAft>
              <a:buClr>
                <a:srgbClr val="888888"/>
              </a:buClr>
              <a:buSzPts val="7300"/>
              <a:buNone/>
              <a:defRPr sz="73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6500"/>
              <a:buNone/>
              <a:defRPr sz="65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080373" y="1730219"/>
            <a:ext cx="19446716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554634" y="63507938"/>
            <a:ext cx="22792871" cy="17964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946150" algn="l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marL="914400" lvl="1" indent="-84455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marL="1371600" lvl="2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3pPr>
            <a:lvl4pPr marL="1828800" lvl="3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–"/>
              <a:defRPr sz="7300"/>
            </a:lvl4pPr>
            <a:lvl5pPr marL="2286000" lvl="4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»"/>
              <a:defRPr sz="7300"/>
            </a:lvl5pPr>
            <a:lvl6pPr marL="2743200" lvl="5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6pPr>
            <a:lvl7pPr marL="3200400" lvl="6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7pPr>
            <a:lvl8pPr marL="3657600" lvl="7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8pPr>
            <a:lvl9pPr marL="4114800" lvl="8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25707631" y="63507938"/>
            <a:ext cx="22796624" cy="17964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946150" algn="l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marL="914400" lvl="1" indent="-84455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marL="1371600" lvl="2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3pPr>
            <a:lvl4pPr marL="1828800" lvl="3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–"/>
              <a:defRPr sz="7300"/>
            </a:lvl4pPr>
            <a:lvl5pPr marL="2286000" lvl="4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»"/>
              <a:defRPr sz="7300"/>
            </a:lvl5pPr>
            <a:lvl6pPr marL="2743200" lvl="5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6pPr>
            <a:lvl7pPr marL="3200400" lvl="6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7pPr>
            <a:lvl8pPr marL="3657600" lvl="7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8pPr>
            <a:lvl9pPr marL="4114800" lvl="8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080373" y="1730219"/>
            <a:ext cx="19446716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080373" y="9671212"/>
            <a:ext cx="9547049" cy="403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b" anchorCtr="0">
            <a:normAutofit/>
          </a:bodyPr>
          <a:lstStyle>
            <a:lvl1pPr marL="457200" lvl="0" indent="-2286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None/>
              <a:defRPr sz="9700" b="1"/>
            </a:lvl1pPr>
            <a:lvl2pPr marL="914400" lvl="1" indent="-22860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None/>
              <a:defRPr sz="8100" b="1"/>
            </a:lvl2pPr>
            <a:lvl3pPr marL="1371600" lvl="2" indent="-22860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 b="1"/>
            </a:lvl3pPr>
            <a:lvl4pPr marL="1828800" lvl="3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4pPr>
            <a:lvl5pPr marL="2286000" lvl="4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5pPr>
            <a:lvl6pPr marL="2743200" lvl="5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6pPr>
            <a:lvl7pPr marL="3200400" lvl="6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7pPr>
            <a:lvl8pPr marL="3657600" lvl="7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8pPr>
            <a:lvl9pPr marL="4114800" lvl="8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1080373" y="13701713"/>
            <a:ext cx="9547049" cy="248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84455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1pPr>
            <a:lvl2pPr marL="914400" lvl="1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–"/>
              <a:defRPr sz="8100"/>
            </a:lvl2pPr>
            <a:lvl3pPr marL="1371600" lvl="2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3pPr>
            <a:lvl4pPr marL="1828800" lvl="3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–"/>
              <a:defRPr sz="6500"/>
            </a:lvl4pPr>
            <a:lvl5pPr marL="2286000" lvl="4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»"/>
              <a:defRPr sz="6500"/>
            </a:lvl5pPr>
            <a:lvl6pPr marL="2743200" lvl="5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6pPr>
            <a:lvl7pPr marL="3200400" lvl="6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7pPr>
            <a:lvl8pPr marL="3657600" lvl="7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8pPr>
            <a:lvl9pPr marL="4114800" lvl="8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0976292" y="9671212"/>
            <a:ext cx="9550799" cy="403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b" anchorCtr="0">
            <a:normAutofit/>
          </a:bodyPr>
          <a:lstStyle>
            <a:lvl1pPr marL="457200" lvl="0" indent="-2286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None/>
              <a:defRPr sz="9700" b="1"/>
            </a:lvl1pPr>
            <a:lvl2pPr marL="914400" lvl="1" indent="-22860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None/>
              <a:defRPr sz="8100" b="1"/>
            </a:lvl2pPr>
            <a:lvl3pPr marL="1371600" lvl="2" indent="-22860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 b="1"/>
            </a:lvl3pPr>
            <a:lvl4pPr marL="1828800" lvl="3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4pPr>
            <a:lvl5pPr marL="2286000" lvl="4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5pPr>
            <a:lvl6pPr marL="2743200" lvl="5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6pPr>
            <a:lvl7pPr marL="3200400" lvl="6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7pPr>
            <a:lvl8pPr marL="3657600" lvl="7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8pPr>
            <a:lvl9pPr marL="4114800" lvl="8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0976292" y="13701713"/>
            <a:ext cx="9550799" cy="248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84455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1pPr>
            <a:lvl2pPr marL="914400" lvl="1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–"/>
              <a:defRPr sz="8100"/>
            </a:lvl2pPr>
            <a:lvl3pPr marL="1371600" lvl="2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3pPr>
            <a:lvl4pPr marL="1828800" lvl="3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–"/>
              <a:defRPr sz="6500"/>
            </a:lvl4pPr>
            <a:lvl5pPr marL="2286000" lvl="4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»"/>
              <a:defRPr sz="6500"/>
            </a:lvl5pPr>
            <a:lvl6pPr marL="2743200" lvl="5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6pPr>
            <a:lvl7pPr marL="3200400" lvl="6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7pPr>
            <a:lvl8pPr marL="3657600" lvl="7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8pPr>
            <a:lvl9pPr marL="4114800" lvl="8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080373" y="1730219"/>
            <a:ext cx="19446716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1080375" y="1720215"/>
            <a:ext cx="7108706" cy="732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Calibri"/>
              <a:buNone/>
              <a:defRPr sz="81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8447918" y="1720218"/>
            <a:ext cx="12079172" cy="3687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1054100" algn="l"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13000"/>
              <a:buChar char="•"/>
              <a:defRPr sz="13000"/>
            </a:lvl1pPr>
            <a:lvl2pPr marL="914400" lvl="1" indent="-946150" algn="l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marL="1371600" lvl="2" indent="-84455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3pPr>
            <a:lvl4pPr marL="1828800" lvl="3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–"/>
              <a:defRPr sz="8100"/>
            </a:lvl4pPr>
            <a:lvl5pPr marL="2286000" lvl="4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»"/>
              <a:defRPr sz="8100"/>
            </a:lvl5pPr>
            <a:lvl6pPr marL="2743200" lvl="5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6pPr>
            <a:lvl7pPr marL="3200400" lvl="6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7pPr>
            <a:lvl8pPr marL="3657600" lvl="7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8pPr>
            <a:lvl9pPr marL="4114800" lvl="8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1080375" y="9041133"/>
            <a:ext cx="7108706" cy="2955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2286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1pPr>
            <a:lvl2pPr marL="914400" lvl="1" indent="-228600" algn="l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2pPr>
            <a:lvl3pPr marL="1371600" lvl="2" indent="-228600" algn="l"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 sz="4100"/>
            </a:lvl3pPr>
            <a:lvl4pPr marL="1828800" lvl="3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marL="3200400" lvl="6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marL="3657600" lvl="7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marL="4114800" lvl="8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235214" y="30243781"/>
            <a:ext cx="12964478" cy="3570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Calibri"/>
              <a:buNone/>
              <a:defRPr sz="81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4235214" y="3860483"/>
            <a:ext cx="12964478" cy="2592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R="0" lvl="0" algn="l" rtl="0"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13000"/>
              <a:buFont typeface="Arial"/>
              <a:buNone/>
              <a:defRPr sz="1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None/>
              <a:defRPr sz="1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None/>
              <a:defRPr sz="9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235214" y="33814228"/>
            <a:ext cx="12964478" cy="5070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2286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1pPr>
            <a:lvl2pPr marL="914400" lvl="1" indent="-228600" algn="l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2pPr>
            <a:lvl3pPr marL="1371600" lvl="2" indent="-228600" algn="l"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 sz="4100"/>
            </a:lvl3pPr>
            <a:lvl4pPr marL="1828800" lvl="3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marL="3200400" lvl="6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marL="3657600" lvl="7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marL="4114800" lvl="8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080373" y="1730219"/>
            <a:ext cx="19446716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-3453051" y="14614689"/>
            <a:ext cx="28513567" cy="19446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-73363496" y="121282647"/>
            <a:ext cx="232249031" cy="11486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96518367" y="109974367"/>
            <a:ext cx="232249031" cy="3410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080373" y="1730219"/>
            <a:ext cx="19446716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800"/>
              <a:buFont typeface="Calibri"/>
              <a:buNone/>
              <a:defRPr sz="17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080373" y="10081263"/>
            <a:ext cx="19446716" cy="28513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marR="0" lvl="0" indent="-1054100" algn="l" rtl="0"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13000"/>
              <a:buFont typeface="Arial"/>
              <a:buChar char="•"/>
              <a:defRPr sz="1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46150" algn="l" rtl="0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–"/>
              <a:defRPr sz="1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44550" algn="l" rtl="0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sz="9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–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»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79248" y="4563943"/>
            <a:ext cx="20158074" cy="2112987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288000" tIns="45700" rIns="288000" bIns="45700" anchor="ctr" anchorCtr="0">
            <a:normAutofit fontScale="92500" lnSpcReduction="20000"/>
          </a:bodyPr>
          <a:lstStyle/>
          <a:p>
            <a:pPr lvl="0" algn="ctr"/>
            <a:r>
              <a:rPr lang="es-MX" sz="80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Predictor de Riesgo de Mortalidad Hospitalaria en Ecuador</a:t>
            </a:r>
            <a:endParaRPr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435100" y="7171021"/>
            <a:ext cx="3874733" cy="941539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360000" tIns="0" rIns="180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PROBLEMA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435100" y="10633811"/>
            <a:ext cx="6154420" cy="953522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360000" tIns="0" rIns="180000" bIns="0" anchor="ctr" anchorCtr="0">
            <a:noAutofit/>
          </a:bodyPr>
          <a:lstStyle/>
          <a:p>
            <a:pPr lvl="0"/>
            <a:r>
              <a:rPr lang="es-ES" sz="40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OBJETIVO  GENERAL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435100" y="15621096"/>
            <a:ext cx="3874733" cy="941539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360000" tIns="0" rIns="180000" bIns="0" anchor="ctr" anchorCtr="0">
            <a:noAutofit/>
          </a:bodyPr>
          <a:lstStyle/>
          <a:p>
            <a:pPr lvl="0"/>
            <a:r>
              <a:rPr lang="es-ES" sz="40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SOLUCIÓN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431922" y="26735879"/>
            <a:ext cx="4173220" cy="941538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360000" tIns="0" rIns="180000" bIns="0" anchor="ctr" anchorCtr="0">
            <a:noAutofit/>
          </a:bodyPr>
          <a:lstStyle/>
          <a:p>
            <a:pPr lvl="0"/>
            <a:r>
              <a:rPr lang="es-ES" sz="40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RESULTADOS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431922" y="31152316"/>
            <a:ext cx="4666559" cy="941539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360000" tIns="0" rIns="180000" bIns="0" anchor="ctr" anchorCtr="0">
            <a:noAutofit/>
          </a:bodyPr>
          <a:lstStyle/>
          <a:p>
            <a:pPr lvl="0"/>
            <a:r>
              <a:rPr lang="es-ES" sz="40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CONCLUSIONES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Google Shape;90;p1"/>
          <p:cNvCxnSpPr/>
          <p:nvPr/>
        </p:nvCxnSpPr>
        <p:spPr>
          <a:xfrm>
            <a:off x="5309833" y="16100749"/>
            <a:ext cx="14843481" cy="0"/>
          </a:xfrm>
          <a:prstGeom prst="straightConnector1">
            <a:avLst/>
          </a:prstGeom>
          <a:noFill/>
          <a:ln w="2540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1"/>
          <p:cNvCxnSpPr>
            <a:cxnSpLocks/>
          </p:cNvCxnSpPr>
          <p:nvPr/>
        </p:nvCxnSpPr>
        <p:spPr>
          <a:xfrm>
            <a:off x="5605142" y="27206648"/>
            <a:ext cx="14402609" cy="0"/>
          </a:xfrm>
          <a:prstGeom prst="straightConnector1">
            <a:avLst/>
          </a:prstGeom>
          <a:noFill/>
          <a:ln w="2540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1"/>
          <p:cNvSpPr txBox="1"/>
          <p:nvPr/>
        </p:nvSpPr>
        <p:spPr>
          <a:xfrm>
            <a:off x="10363297" y="989847"/>
            <a:ext cx="3874733" cy="2666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5F497A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Zambrano Toala Leonardo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ltzambra@espol.edu.ec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FIEC</a:t>
            </a:r>
            <a:endParaRPr sz="2500" dirty="0">
              <a:solidFill>
                <a:srgbClr val="595959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595959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5F497A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Murillo Mora Javier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jajomuri@espol.edu.ec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FIEC</a:t>
            </a:r>
            <a:endParaRPr sz="2500" dirty="0">
              <a:solidFill>
                <a:srgbClr val="595959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5941950" y="918389"/>
            <a:ext cx="3874733" cy="2666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5F497A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Guamaní Herrera Joel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s-ES" sz="25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joguherr@espol.edu.ec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FIEC</a:t>
            </a:r>
            <a:endParaRPr sz="2500" dirty="0">
              <a:solidFill>
                <a:srgbClr val="595959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1"/>
          <p:cNvCxnSpPr/>
          <p:nvPr/>
        </p:nvCxnSpPr>
        <p:spPr>
          <a:xfrm>
            <a:off x="14853909" y="852252"/>
            <a:ext cx="0" cy="3106771"/>
          </a:xfrm>
          <a:prstGeom prst="straightConnector1">
            <a:avLst/>
          </a:prstGeom>
          <a:noFill/>
          <a:ln w="2540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1"/>
          <p:cNvSpPr txBox="1"/>
          <p:nvPr/>
        </p:nvSpPr>
        <p:spPr>
          <a:xfrm>
            <a:off x="1431922" y="8451232"/>
            <a:ext cx="1886466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s-ES_tradnl" sz="300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En Ecuador, los egresos hospitalarios generan más de un millón de registros anuales, pero identificar qué características del ingreso están asociadas a un mayor riesgo de fallecimiento es difícil, ya que este depende de la interacción entre edad, sexo, residencia, fecha de ingreso y tipo de establecimiento, y no de una sola variable. Además, el conjunto presenta un fuerte desbalance de clases: solo el 1.56% de los registros corresponde a fallecimientos.</a:t>
            </a:r>
          </a:p>
        </p:txBody>
      </p:sp>
      <p:sp>
        <p:nvSpPr>
          <p:cNvPr id="96" name="Google Shape;96;p1"/>
          <p:cNvSpPr txBox="1"/>
          <p:nvPr/>
        </p:nvSpPr>
        <p:spPr>
          <a:xfrm>
            <a:off x="1435098" y="11990440"/>
            <a:ext cx="97186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s-ES_tradnl" sz="30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Clasificar los egresos hospitalarios del Ecuador según su riesgo de fallecimiento, utilizando únicamente variables disponibles al momento del ingreso del paciente y aplicando técnicas de Inteligencia Artificial.</a:t>
            </a:r>
          </a:p>
        </p:txBody>
      </p:sp>
      <p:sp>
        <p:nvSpPr>
          <p:cNvPr id="97" name="Google Shape;97;p1"/>
          <p:cNvSpPr txBox="1"/>
          <p:nvPr/>
        </p:nvSpPr>
        <p:spPr>
          <a:xfrm>
            <a:off x="1431922" y="32450861"/>
            <a:ext cx="9718675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just">
              <a:buClr>
                <a:srgbClr val="595959"/>
              </a:buClr>
              <a:buSzPts val="3000"/>
              <a:buFont typeface="Noto Sans Symbols"/>
              <a:buChar char="▪"/>
            </a:pPr>
            <a:r>
              <a:rPr lang="es-ES_tradnl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Delimitar correctamente las variables disponibles al ingreso evitó la fuga de información (data </a:t>
            </a:r>
            <a:r>
              <a:rPr lang="es-ES_tradnl" sz="3000" dirty="0" err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leakage</a:t>
            </a:r>
            <a:r>
              <a:rPr lang="es-ES_tradnl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 entre predictor y variable objetivo.</a:t>
            </a:r>
          </a:p>
          <a:p>
            <a:pPr marL="342900" lvl="0" indent="-342900" algn="just">
              <a:buClr>
                <a:srgbClr val="595959"/>
              </a:buClr>
              <a:buSzPts val="3000"/>
              <a:buFont typeface="Noto Sans Symbols"/>
              <a:buChar char="▪"/>
            </a:pPr>
            <a:r>
              <a:rPr lang="es-ES_tradnl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El fuerte desbalance de clases (1.56% de fallecimientos) exigió aplicar SMOTE y priorizar métricas más allá del </a:t>
            </a:r>
            <a:r>
              <a:rPr lang="es-ES_tradnl" sz="3000" dirty="0" err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Accuracy</a:t>
            </a:r>
            <a:r>
              <a:rPr lang="es-ES_tradnl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.</a:t>
            </a:r>
          </a:p>
          <a:p>
            <a:pPr marL="342900" lvl="0" indent="-342900" algn="just">
              <a:buClr>
                <a:srgbClr val="595959"/>
              </a:buClr>
              <a:buSzPts val="3000"/>
              <a:buFont typeface="Noto Sans Symbols"/>
              <a:buChar char="▪"/>
            </a:pPr>
            <a:r>
              <a:rPr lang="es-ES_tradnl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Una mayor complejidad del modelo no garantiza mejores resultados: el MLP superó en varias métricas, pero la Regresión Logística logró el mayor </a:t>
            </a:r>
            <a:r>
              <a:rPr lang="es-ES_tradnl" sz="3000" dirty="0" err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Recall</a:t>
            </a:r>
            <a:r>
              <a:rPr lang="es-ES_tradnl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.</a:t>
            </a:r>
          </a:p>
        </p:txBody>
      </p:sp>
      <p:sp>
        <p:nvSpPr>
          <p:cNvPr id="98" name="Google Shape;98;p1"/>
          <p:cNvSpPr txBox="1"/>
          <p:nvPr/>
        </p:nvSpPr>
        <p:spPr>
          <a:xfrm>
            <a:off x="1435098" y="16889457"/>
            <a:ext cx="9523187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s-MX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Se optó por un modelo de Regresión Logística, entrenado sobre variables disponibles únicamente al momento del ingreso del paciente. Se priorizó este modelo porque, frente a alternativas de Deep </a:t>
            </a:r>
            <a:r>
              <a:rPr lang="es-MX" sz="3000" dirty="0" err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Learning</a:t>
            </a:r>
            <a:r>
              <a:rPr lang="es-MX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, logró la mejor detección de casos de fallecimiento (mayor </a:t>
            </a:r>
            <a:r>
              <a:rPr lang="es-MX" sz="3000" dirty="0" err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Recall</a:t>
            </a:r>
            <a:r>
              <a:rPr lang="es-MX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), que es el criterio más importante para este problema. El modelo se integró en una aplicación con </a:t>
            </a:r>
            <a:r>
              <a:rPr lang="es-MX" sz="3000" dirty="0" err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backend</a:t>
            </a:r>
            <a:r>
              <a:rPr lang="es-MX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e interfaz web para generar estimaciones de riesgo.</a:t>
            </a:r>
            <a:endParaRPr lang="es-ES_tradnl" sz="3000"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431922" y="27794488"/>
            <a:ext cx="9526364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s-MX" sz="30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El proyecto no se quedó en el entrenamiento del modelo: se integró en una aplicación funcional de extremo a extremo. La interfaz web permite ingresar los datos de un paciente al momento del ingreso, obtener una estimación de riesgo de fallecimiento, consultar estadísticas históricas del sistema de salud ecuatoriano y generar un reporte.</a:t>
            </a:r>
            <a:endParaRPr lang="es-ES_tradnl" sz="3000" dirty="0">
              <a:solidFill>
                <a:srgbClr val="595959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2232322" y="32450861"/>
            <a:ext cx="8064262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 algn="just">
              <a:buClr>
                <a:srgbClr val="595959"/>
              </a:buClr>
              <a:buSzPts val="3000"/>
              <a:buFont typeface="Noto Sans Symbols"/>
              <a:buChar char="▪"/>
            </a:pPr>
            <a:r>
              <a:rPr lang="es-MX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Permite a los hospitales identificar, al momento del ingreso, qué pacientes tienen mayor riesgo de fallecimiento, apoyando la priorización de casos delicados.</a:t>
            </a:r>
          </a:p>
          <a:p>
            <a:pPr marL="342900" indent="-342900" algn="just">
              <a:buClr>
                <a:srgbClr val="595959"/>
              </a:buClr>
              <a:buSzPts val="3000"/>
              <a:buFont typeface="Noto Sans Symbols"/>
              <a:buChar char="▪"/>
            </a:pPr>
            <a:r>
              <a:rPr lang="es-MX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Ayuda al Ministerio de Salud Pública a reconocer patrones de riesgo por provincia o tipo de diagnóstico, útil para planificar programas y priorizar recursos.</a:t>
            </a:r>
          </a:p>
          <a:p>
            <a:pPr marL="342900" indent="-342900" algn="just">
              <a:buClr>
                <a:srgbClr val="595959"/>
              </a:buClr>
              <a:buSzPts val="3000"/>
              <a:buFont typeface="Noto Sans Symbols"/>
              <a:buChar char="▪"/>
            </a:pPr>
            <a:r>
              <a:rPr lang="es-MX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Entrega estadísticas históricas y reportes descargables que facilitan el análisis y la toma de decisiones, sin reemplazar el criterio médico.</a:t>
            </a:r>
            <a:endParaRPr lang="es-ES_tradnl" sz="3000"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2317211" y="31152337"/>
            <a:ext cx="7249477" cy="941518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360000" tIns="0" rIns="180000" bIns="0" anchor="ctr" anchorCtr="0">
            <a:noAutofit/>
          </a:bodyPr>
          <a:lstStyle/>
          <a:p>
            <a:pPr lvl="0"/>
            <a:r>
              <a:rPr lang="es-ES" sz="4000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NUESTRA CONTRIBUCIÓN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0712" y="571496"/>
            <a:ext cx="6078239" cy="132904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CFBFDB-7CB0-7C4E-B4CC-EF0F54E5AC19}"/>
              </a:ext>
            </a:extLst>
          </p:cNvPr>
          <p:cNvSpPr txBox="1"/>
          <p:nvPr/>
        </p:nvSpPr>
        <p:spPr>
          <a:xfrm>
            <a:off x="1064077" y="1834877"/>
            <a:ext cx="849151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FACULTAD DE INGENIERÍA EN ELECTRICIDAD Y COMPUTACIÓN</a:t>
            </a:r>
          </a:p>
          <a:p>
            <a:pPr algn="ctr"/>
            <a:endParaRPr lang="en-US" sz="2400" dirty="0"/>
          </a:p>
          <a:p>
            <a:pPr algn="ctr"/>
            <a:r>
              <a:rPr lang="en-US" sz="2800" dirty="0"/>
              <a:t>INTELIGENCIA ARTIFICIAL PARALELO #1 · GRUPO #3</a:t>
            </a:r>
          </a:p>
          <a:p>
            <a:pPr algn="ctr"/>
            <a:endParaRPr lang="en-US" sz="2400" dirty="0"/>
          </a:p>
        </p:txBody>
      </p:sp>
      <p:pic>
        <p:nvPicPr>
          <p:cNvPr id="104" name="Picture 103" descr="fig1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2357" y="10633811"/>
            <a:ext cx="8863806" cy="5132706"/>
          </a:xfrm>
          <a:prstGeom prst="rect">
            <a:avLst/>
          </a:prstGeom>
        </p:spPr>
      </p:pic>
      <p:pic>
        <p:nvPicPr>
          <p:cNvPr id="105" name="Picture 104" descr="fig2_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0219" y="20478818"/>
            <a:ext cx="9288066" cy="6098109"/>
          </a:xfrm>
          <a:prstGeom prst="rect">
            <a:avLst/>
          </a:prstGeom>
        </p:spPr>
      </p:pic>
      <p:pic>
        <p:nvPicPr>
          <p:cNvPr id="106" name="Picture 105" descr="fig3_metr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2322" y="27365601"/>
            <a:ext cx="7239420" cy="3627783"/>
          </a:xfrm>
          <a:prstGeom prst="rect">
            <a:avLst/>
          </a:prstGeom>
        </p:spPr>
      </p:pic>
      <p:pic>
        <p:nvPicPr>
          <p:cNvPr id="2" name="Imagen 1" descr="curvas-roc-comparacion-modelos.png">
            <a:extLst>
              <a:ext uri="{FF2B5EF4-FFF2-40B4-BE49-F238E27FC236}">
                <a16:creationId xmlns:a16="http://schemas.microsoft.com/office/drawing/2014/main" id="{0FCEC78C-B3FA-96BC-495E-FC360D8A62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5846" y="36962851"/>
            <a:ext cx="7445269" cy="5678745"/>
          </a:xfrm>
          <a:prstGeom prst="rect">
            <a:avLst/>
          </a:prstGeom>
        </p:spPr>
      </p:pic>
      <p:pic>
        <p:nvPicPr>
          <p:cNvPr id="6" name="Imagen 5" descr="regresion-logistica.png">
            <a:extLst>
              <a:ext uri="{FF2B5EF4-FFF2-40B4-BE49-F238E27FC236}">
                <a16:creationId xmlns:a16="http://schemas.microsoft.com/office/drawing/2014/main" id="{AAEE703C-3010-1361-4816-AA96D7026C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26912" y="16648052"/>
            <a:ext cx="7739776" cy="7024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453</Words>
  <Application>Microsoft Office PowerPoint</Application>
  <PresentationFormat>Personalizado</PresentationFormat>
  <Paragraphs>30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Noto Sans Symbols</vt:lpstr>
      <vt:lpstr>Times New Roman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espol</dc:creator>
  <cp:lastModifiedBy>Leonardo Thomas Zambrano Toala</cp:lastModifiedBy>
  <cp:revision>28</cp:revision>
  <dcterms:created xsi:type="dcterms:W3CDTF">2018-07-17T13:46:25Z</dcterms:created>
  <dcterms:modified xsi:type="dcterms:W3CDTF">2026-08-18T14:32:54Z</dcterms:modified>
</cp:coreProperties>
</file>